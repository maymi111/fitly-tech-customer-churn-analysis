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9" r:id="rId6"/>
    <p:sldId id="260" r:id="rId7"/>
    <p:sldId id="261" r:id="rId8"/>
    <p:sldId id="262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3"/>
    <p:restoredTop sz="94660"/>
  </p:normalViewPr>
  <p:slideViewPr>
    <p:cSldViewPr snapToGrid="0">
      <p:cViewPr varScale="1">
        <p:scale>
          <a:sx n="60" d="100"/>
          <a:sy n="60" d="100"/>
        </p:scale>
        <p:origin x="7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buNone/>
            </a:pPr>
            <a:endParaRPr lang="en-GB" altLang="x-none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r">
              <a:buNone/>
            </a:pPr>
            <a:fld id="{BB962C8B-B14F-4D97-AF65-F5344CB8AC3E}" type="datetimeFigureOut">
              <a:rPr lang="en-GB" altLang="x-none" dirty="0"/>
            </a:fld>
            <a:endParaRPr lang="en-GB" alt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buNone/>
            </a:pP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>
              <a:buNone/>
            </a:pPr>
            <a:fld id="{9A0DB2DC-4C9A-4742-B13C-FB6460FD3503}" type="slidenum">
              <a:rPr lang="en-GB" altLang="x-none" dirty="0"/>
            </a:fld>
            <a:endParaRPr lang="en-GB" altLang="x-none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lvl="0" eaLnBrk="1" hangingPunct="1">
              <a:buNone/>
            </a:pPr>
            <a:fld id="{BB962C8B-B14F-4D97-AF65-F5344CB8AC3E}" type="datetimeFigureOut">
              <a:rPr lang="en-GB" altLang="x-none" dirty="0">
                <a:latin typeface="Century Gothic" panose="020B0502020202020204" pitchFamily="34" charset="0"/>
              </a:rPr>
            </a:fld>
            <a:endParaRPr lang="en-GB" altLang="x-none" dirty="0">
              <a:latin typeface="Century Gothic" panose="020B0502020202020204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 eaLnBrk="1" hangingPunct="1">
              <a:buNone/>
            </a:pPr>
            <a:endParaRPr lang="en-GB" altLang="x-none" dirty="0">
              <a:latin typeface="Century Gothic" panose="020B0502020202020204" pitchFamily="34" charset="0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GB" altLang="x-none" dirty="0">
                <a:latin typeface="Century Gothic" panose="020B0502020202020204" pitchFamily="34" charset="0"/>
              </a:rPr>
            </a:fld>
            <a:endParaRPr lang="en-GB" altLang="x-none" dirty="0">
              <a:latin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ctrTitle"/>
          </p:nvPr>
        </p:nvSpPr>
        <p:spPr>
          <a:xfrm>
            <a:off x="2387283" y="173038"/>
            <a:ext cx="8915400" cy="2262187"/>
          </a:xfrm>
        </p:spPr>
        <p:txBody>
          <a:bodyPr vert="horz" wrap="square" lIns="91440" tIns="45720" rIns="91440" bIns="45720" anchor="b" anchorCtr="0"/>
          <a:p>
            <a:pPr defTabSz="457200">
              <a:buClrTx/>
              <a:buSzTx/>
              <a:buFontTx/>
              <a:buNone/>
            </a:pPr>
            <a:r>
              <a:rPr lang="en-GB" altLang="x-none" b="1" kern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Fit.ly Tech Customer Churn Analysis</a:t>
            </a:r>
            <a:endParaRPr lang="en-GB" altLang="x-none" kern="12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1323" y="4816793"/>
            <a:ext cx="8915400" cy="1127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3" panose="05040102010807070707" pitchFamily="18" charset="2"/>
              <a:buNone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Understanding churn drivers and opportunities to improve customer retention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2589213" y="487363"/>
            <a:ext cx="8912225" cy="91757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GB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&amp; Goal</a:t>
            </a:r>
            <a:endParaRPr lang="en-GB" alt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4680" y="1404938"/>
            <a:ext cx="9132888" cy="4975225"/>
          </a:xfrm>
        </p:spPr>
        <p:txBody>
          <a:bodyPr vert="horz" lIns="91440" tIns="45720" rIns="91440" bIns="45720" rtlCol="0"/>
          <a:p>
            <a:pPr marL="0" indent="0">
              <a:buNone/>
            </a:pPr>
            <a:r>
              <a:rPr lang="en-GB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GB" alt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has been increasing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is becoming more important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 of acquiring new customers is rising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Focus</a:t>
            </a:r>
            <a:endParaRPr lang="en-GB" alt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plan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experience</a:t>
            </a:r>
            <a:endParaRPr lang="en-GB" altLang="x-non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en-GB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Approach</a:t>
            </a:r>
            <a:endParaRPr lang="en-GB" alt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2058" y="1751013"/>
            <a:ext cx="4313238" cy="3776663"/>
          </a:xfrm>
        </p:spPr>
        <p:txBody>
          <a:bodyPr vert="horz" lIns="91440" tIns="45720" rIns="91440" bIns="45720" rtlCol="0"/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  <a:buNone/>
            </a:pPr>
            <a:r>
              <a:rPr lang="en-GB" alt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GB" alt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information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activity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</a:pPr>
            <a:endParaRPr lang="en-GB" altLang="x-non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1213" y="1611313"/>
            <a:ext cx="5956300" cy="4545013"/>
          </a:xfrm>
        </p:spPr>
        <p:txBody>
          <a:bodyPr vert="horz" lIns="91440" tIns="45720" rIns="91440" bIns="45720" rtlCol="0"/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  <a:buNone/>
            </a:pP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GB" alt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data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support and activity data by customer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datasets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churned vs. active customers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potential churn drivers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chemeClr val="accent1"/>
              </a:buClr>
              <a:buSzTx/>
              <a:buFont typeface="Wingdings 3" panose="05040102010807070707" pitchFamily="18" charset="2"/>
            </a:pPr>
            <a:endParaRPr lang="en-GB" altLang="x-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2233613" y="165100"/>
            <a:ext cx="6759575" cy="5842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GB" alt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Churn Situation</a:t>
            </a:r>
            <a:endParaRPr lang="en-GB" altLang="x-none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150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1414463"/>
            <a:ext cx="6929437" cy="512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7280275" y="1771650"/>
            <a:ext cx="465931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Customer Churn Rate 28.5%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/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Customers: 71.5% 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/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 Customers: 28.5%</a:t>
            </a:r>
            <a:endParaRPr lang="en-GB" altLang="x-non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en-GB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Differs by Plan</a:t>
            </a:r>
            <a:endParaRPr lang="en-GB" alt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2531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060950" y="1695450"/>
            <a:ext cx="6630988" cy="4854575"/>
          </a:xfrm>
        </p:spPr>
      </p:pic>
      <p:graphicFrame>
        <p:nvGraphicFramePr>
          <p:cNvPr id="22532" name="Content Placeholder 22531"/>
          <p:cNvGraphicFramePr/>
          <p:nvPr>
            <p:ph sz="half" idx="2"/>
          </p:nvPr>
        </p:nvGraphicFramePr>
        <p:xfrm>
          <a:off x="500063" y="2017713"/>
          <a:ext cx="4146550" cy="2309813"/>
        </p:xfrm>
        <a:graphic>
          <a:graphicData uri="http://schemas.openxmlformats.org/drawingml/2006/table">
            <a:tbl>
              <a:tblPr/>
              <a:tblGrid>
                <a:gridCol w="2073275"/>
                <a:gridCol w="2073275"/>
              </a:tblGrid>
              <a:tr h="461963"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b="1" dirty="0">
                          <a:latin typeface="Century Gothic" panose="020B0502020202020204" pitchFamily="34" charset="0"/>
                        </a:rPr>
                        <a:t>Plan</a:t>
                      </a:r>
                      <a:endParaRPr lang="en-GB" altLang="x-none" sz="24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b="1" dirty="0">
                          <a:latin typeface="Century Gothic" panose="020B0502020202020204" pitchFamily="34" charset="0"/>
                        </a:rPr>
                        <a:t>Churn Rate</a:t>
                      </a:r>
                      <a:endParaRPr lang="en-GB" altLang="x-none" sz="24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1962"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Enterprise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5F5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26.09%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5F5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Free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40.95%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2FA"/>
                    </a:solidFill>
                  </a:tcPr>
                </a:tc>
              </a:tr>
              <a:tr h="461962"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Basic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5F5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23.73%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5F5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Pro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en-GB" altLang="x-none" sz="2400" dirty="0">
                          <a:latin typeface="Century Gothic" panose="020B0502020202020204" pitchFamily="34" charset="0"/>
                        </a:rPr>
                        <a:t>22.35%</a:t>
                      </a:r>
                      <a:endParaRPr lang="en-GB" altLang="x-none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3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017588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GB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Experience &amp; Engagement</a:t>
            </a:r>
            <a:endParaRPr lang="en-GB" alt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3555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74663" y="2538413"/>
            <a:ext cx="5416550" cy="3954462"/>
          </a:xfrm>
        </p:spPr>
      </p:pic>
      <p:pic>
        <p:nvPicPr>
          <p:cNvPr id="23556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1775" y="2614613"/>
            <a:ext cx="5321300" cy="3952875"/>
          </a:xfrm>
        </p:spPr>
      </p:pic>
      <p:sp>
        <p:nvSpPr>
          <p:cNvPr id="23557" name="TextBox 10"/>
          <p:cNvSpPr txBox="1"/>
          <p:nvPr/>
        </p:nvSpPr>
        <p:spPr>
          <a:xfrm>
            <a:off x="838200" y="1260475"/>
            <a:ext cx="4478338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Resolution Time</a:t>
            </a:r>
            <a:endParaRPr lang="en-GB" alt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Active: </a:t>
            </a: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6.66 hours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Churned: </a:t>
            </a: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18.69 hours</a:t>
            </a:r>
            <a:endParaRPr lang="en-GB" altLang="x-non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558" name="TextBox 11"/>
          <p:cNvSpPr txBox="1"/>
          <p:nvPr/>
        </p:nvSpPr>
        <p:spPr>
          <a:xfrm>
            <a:off x="6964363" y="1260475"/>
            <a:ext cx="384968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</a:t>
            </a:r>
            <a:endParaRPr lang="en-GB" altLang="x-non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Active: </a:t>
            </a: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1.88 activities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Churned: </a:t>
            </a:r>
            <a:r>
              <a:rPr lang="en-GB" alt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1.32 activities</a:t>
            </a:r>
            <a:endParaRPr lang="en-GB" altLang="x-none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889125" y="0"/>
            <a:ext cx="6932613" cy="893763"/>
          </a:xfrm>
        </p:spPr>
        <p:txBody>
          <a:bodyPr vert="horz" wrap="square" lIns="91440" tIns="45720" rIns="91440" bIns="45720" anchor="b" anchorCtr="0"/>
          <a:p>
            <a:pPr defTabSz="457200">
              <a:buNone/>
            </a:pPr>
            <a:r>
              <a:rPr lang="en-GB" altLang="x-none" sz="2800" b="1" kern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KPI  </a:t>
            </a:r>
            <a:endParaRPr lang="en-GB" altLang="x-none" sz="2800" b="1" kern="12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365" y="1367155"/>
            <a:ext cx="5844540" cy="4873625"/>
          </a:xfrm>
        </p:spPr>
        <p:txBody>
          <a:bodyPr vert="horz" lIns="91440" tIns="45720" rIns="91440" bIns="45720" rtlCol="0" anchor="ctr"/>
          <a:p>
            <a:pPr marL="0" indent="0">
              <a:lnSpc>
                <a:spcPct val="90000"/>
              </a:lnSpc>
              <a:buNone/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KPI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Customer Churn Rate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baseline: 28.5%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Reduce over time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Metrics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by plan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</a:t>
            </a:r>
            <a:endParaRPr lang="en-GB" alt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r>
              <a:rPr lang="en-GB" alt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support resolution time</a:t>
            </a:r>
            <a:endParaRPr lang="en-GB" altLang="x-non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74395" y="1540510"/>
            <a:ext cx="5221605" cy="4867275"/>
          </a:xfrm>
        </p:spPr>
        <p:txBody>
          <a:bodyPr>
            <a:normAutofit/>
          </a:bodyPr>
          <a:p>
            <a:pPr marL="0" indent="0" defTabSz="457200"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Improve Support Resolution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Prioritise tickets from at-risk customers.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 faster response and resolution targets.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Review long-running tickets regularly.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457200"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Improve Free-Plan Retention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Free-plan users have the highest churn rate at 40.95%.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Find out why Free users leave.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targeted offers or upgrade messages.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417945" y="1540510"/>
            <a:ext cx="5254625" cy="4867275"/>
          </a:xfrm>
        </p:spPr>
        <p:txBody>
          <a:bodyPr/>
          <a:p>
            <a:pPr marL="0" indent="0" defTabSz="457200">
              <a:buSz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Re-engage Low-Activity Customers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Churned customers had lower activity than active customers.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Identify customers with declining activity.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Send personalised workout recommendations.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457200"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reminders to bring customers back.</a:t>
            </a:r>
            <a:endParaRPr lang="en-US" alt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27250" y="5010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x-none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Recommendations</a:t>
            </a:r>
            <a:endParaRPr lang="en-GB" altLang="x-none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389188" y="439738"/>
            <a:ext cx="7902575" cy="6985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GB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alt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638" y="2133600"/>
            <a:ext cx="9451975" cy="3778250"/>
          </a:xfrm>
        </p:spPr>
        <p:txBody>
          <a:bodyPr vert="horz" lIns="91440" tIns="45720" rIns="91440" bIns="45720" rtlCol="0"/>
          <a:p>
            <a:pPr marL="0" indent="0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Message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Fit.ly Tech should focus on reducing churn by improving support experience, strengthening Free-plan retention, and identifying low-engagement customers early.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GB" alt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Overall Customer Churn Rate from the current 28.5% baseline.</a:t>
            </a:r>
            <a:endParaRPr lang="en-GB" alt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GB" altLang="x-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0</TotalTime>
  <Words>1921</Words>
  <Application>WPS Presentation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Century Gothic</vt:lpstr>
      <vt:lpstr>Times New Roman</vt:lpstr>
      <vt:lpstr>Wingdings 3</vt:lpstr>
      <vt:lpstr>Microsoft YaHei</vt:lpstr>
      <vt:lpstr>Arial Unicode MS</vt:lpstr>
      <vt:lpstr>Calibri</vt:lpstr>
      <vt:lpstr>Orange Waves</vt:lpstr>
      <vt:lpstr>Fit.ly Tech Customer Churn Analysis</vt:lpstr>
      <vt:lpstr>Business Problem &amp; Goal</vt:lpstr>
      <vt:lpstr>Data &amp; Approach</vt:lpstr>
      <vt:lpstr>PowerPoint 演示文稿</vt:lpstr>
      <vt:lpstr>Churn Differs by Plan</vt:lpstr>
      <vt:lpstr>Support Experience &amp; Engagement</vt:lpstr>
      <vt:lpstr>KPI  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 mi thong</dc:creator>
  <cp:lastModifiedBy>alice 111</cp:lastModifiedBy>
  <cp:revision>4</cp:revision>
  <dcterms:created xsi:type="dcterms:W3CDTF">2026-07-22T12:42:00Z</dcterms:created>
  <dcterms:modified xsi:type="dcterms:W3CDTF">2026-08-05T11:40:31Z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A48BD0AC98094A3DA3B1E3D7580A98BA_12</vt:lpwstr>
  </property>
  <property fmtid="{D5CDD505-2E9C-101B-9397-08002B2CF9AE}" pid="3" name="KSOProductBuildVer">
    <vt:lpwstr>1033-12.2.0.23206</vt:lpwstr>
  </property>
</Properties>
</file>